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62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C88EA3-E0FC-4867-BA94-3057D48A06C8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6DACA6-E228-4FE0-A070-7F70473DD7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922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2AB97-7EE2-47D9-9960-4A294E8602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154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2F2E1-F54F-CCD8-7DAD-63B676B14D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872D27-934A-C415-DCC4-78A4E980BE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FA231-A1AA-AA97-FB48-FDF7803A0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08078-BE7F-460A-A074-25FB89B2397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51982-7968-1892-4C7F-1D7B747B5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76B3A-C83E-0986-0392-1E5E7EA3C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CB1BC-1C1D-4C9E-9C6D-A63CCE819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714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EA011-DE3E-AA5E-585C-8E05E5A06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83029-84C8-E33A-76D4-0EBE4E06A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F5F48-4713-2CFD-F9AE-AB4DED01E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08078-BE7F-460A-A074-25FB89B2397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52BC7-5779-C382-C8BF-F8E5CB00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DBB1B-3292-4E66-C68C-F7F09FA5D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CB1BC-1C1D-4C9E-9C6D-A63CCE819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130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B467B-8463-6573-BC27-A37E5D662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0630D-1EB8-75B5-782B-517393295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A0F9E-97ED-8437-E7FA-A8EBF8908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08078-BE7F-460A-A074-25FB89B2397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1E6E9-7986-3286-2543-8A3C4EF84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2AD3A-DAD2-3299-0142-D480B98EF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CB1BC-1C1D-4C9E-9C6D-A63CCE819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205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76CB8-EF3D-E3E2-2290-E21DE44CB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7D986-D3BC-7C96-7736-9B3E58E487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6C956-D8C4-2B63-A214-01CD8E72A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0B831-C225-0CE3-ECA6-693CA761E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08078-BE7F-460A-A074-25FB89B2397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8ADE1-6B0B-21D6-D08D-1F9885E3C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C7D89-E805-2E43-E832-F3CE5430B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CB1BC-1C1D-4C9E-9C6D-A63CCE819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332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A9088-49D2-B4A4-B98E-892781154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8809C-B950-9DDC-1E59-C8ADF4970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965C4-E875-CC08-E5C7-90450E709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F7E2BA-6E9B-35ED-4978-DA0343752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085BD9-0434-7CC9-717B-EAA70FF69B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94B9D5-7910-0C2D-5AFA-BC7CACABA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08078-BE7F-460A-A074-25FB89B2397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7BFBD-6B92-4075-6929-2BB2196F8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D34C9D-08B4-ACE4-DD1D-2269CB08A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CB1BC-1C1D-4C9E-9C6D-A63CCE819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694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3CCB5-998B-B396-9459-16CD8F4BE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209314-E7B5-0F46-AD56-3492DD8AD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08078-BE7F-460A-A074-25FB89B2397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0864BE-0900-6977-92DB-DF46E2995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3CE82C-2615-05BE-B2A8-A4B75242B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CB1BC-1C1D-4C9E-9C6D-A63CCE819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555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9CF234-33EC-4DCF-E0E8-3B5F92206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08078-BE7F-460A-A074-25FB89B2397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78930C-BDC6-E2A5-82F1-80D27A133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9154B-9896-44F7-CB4A-4F94A65AB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CB1BC-1C1D-4C9E-9C6D-A63CCE819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284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F3021-EAB1-407F-064B-139791B54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783B4-421D-42AB-5E70-5D39471A5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62B5BC-87A6-5919-6CEE-61B25D56A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FCA7CF-77D4-E4FF-81A9-3D9BAA127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08078-BE7F-460A-A074-25FB89B2397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69D8E-21B8-F9E7-6B21-ACD5DE79B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FD373-265B-21A3-B367-0CE85FEEC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CB1BC-1C1D-4C9E-9C6D-A63CCE819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520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1D23C-4F28-9D08-2B5A-1470DF2D8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A7901E-4297-E134-60A7-63012C807F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6B51A-20E4-198F-783A-1FA3A02A9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C41D8-28CC-BE22-105C-3AF66FEA1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08078-BE7F-460A-A074-25FB89B2397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BDF7D-F68A-22A8-5887-2FB201C3C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00D4B-3507-8827-AC15-35502318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CB1BC-1C1D-4C9E-9C6D-A63CCE819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796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45DF1-9F76-41E3-632D-0EAA671D1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A0BB5-C276-4C63-279B-BF1372303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BF879-C3FD-DC99-53D8-5F9D30992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08078-BE7F-460A-A074-25FB89B2397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D5D36-6FA0-6758-258D-131D3CB5F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D3D5C-0106-3D04-FBBA-50EEEAD17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CB1BC-1C1D-4C9E-9C6D-A63CCE819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651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45F6C1-7BD0-0F8A-6D75-5FC2AC1157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559DD7-0DE2-BA9B-B680-3914B6C4E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1B22-596C-7011-6D90-B69002304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08078-BE7F-460A-A074-25FB89B2397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51FA5-1A17-F6C2-3290-857C915ED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D2BFE-A9BC-721E-AEE0-83F321A68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CB1BC-1C1D-4C9E-9C6D-A63CCE819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00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ew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1AFA9E9-5EB8-42BF-B15A-3D95DDA547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3F5B0ED-A4CB-4D19-B6B8-CA9E1139E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699224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114B21-22CA-11AC-A388-6F1085537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86C4B-4BA0-E0DE-7C67-C7E91B1CD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39276-03C4-5938-094B-7A5C54F2C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408078-BE7F-460A-A074-25FB89B2397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0598C-69FD-4455-AB2D-C29C6F1A12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C2298-1635-A86C-DDB7-30A5EED17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9CB1BC-1C1D-4C9E-9C6D-A63CCE819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303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Placeholder 68"/>
          <p:cNvSpPr>
            <a:spLocks noGrp="1"/>
          </p:cNvSpPr>
          <p:nvPr>
            <p:ph type="body" sz="quarter" idx="13"/>
          </p:nvPr>
        </p:nvSpPr>
        <p:spPr>
          <a:xfrm>
            <a:off x="568325" y="375375"/>
            <a:ext cx="11188700" cy="757255"/>
          </a:xfrm>
        </p:spPr>
        <p:txBody>
          <a:bodyPr/>
          <a:lstStyle/>
          <a:p>
            <a:r>
              <a:rPr lang="en-US" dirty="0"/>
              <a:t>Automation Testing or Functional Testing</a:t>
            </a:r>
            <a:endParaRPr lang="en-IN" dirty="0"/>
          </a:p>
        </p:txBody>
      </p:sp>
      <p:cxnSp>
        <p:nvCxnSpPr>
          <p:cNvPr id="100" name="Straight Connector 99"/>
          <p:cNvCxnSpPr/>
          <p:nvPr/>
        </p:nvCxnSpPr>
        <p:spPr>
          <a:xfrm>
            <a:off x="566538" y="780383"/>
            <a:ext cx="4680000" cy="0"/>
          </a:xfrm>
          <a:prstGeom prst="line">
            <a:avLst/>
          </a:prstGeom>
          <a:solidFill>
            <a:schemeClr val="bg1"/>
          </a:solidFill>
          <a:ln w="28575">
            <a:solidFill>
              <a:srgbClr val="0076A8"/>
            </a:solidFill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551575" y="2422541"/>
            <a:ext cx="4680000" cy="0"/>
          </a:xfrm>
          <a:prstGeom prst="line">
            <a:avLst/>
          </a:prstGeom>
          <a:solidFill>
            <a:schemeClr val="bg1"/>
          </a:solidFill>
          <a:ln w="28575">
            <a:solidFill>
              <a:srgbClr val="0076A8"/>
            </a:solidFill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2" name="Text Placeholder 5"/>
          <p:cNvSpPr txBox="1">
            <a:spLocks/>
          </p:cNvSpPr>
          <p:nvPr/>
        </p:nvSpPr>
        <p:spPr>
          <a:xfrm>
            <a:off x="2012508" y="925596"/>
            <a:ext cx="3620550" cy="10401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indent="0" defTabSz="990587">
              <a:spcBef>
                <a:spcPts val="0"/>
              </a:spcBef>
              <a:spcAft>
                <a:spcPts val="1083"/>
              </a:spcAft>
              <a:buSzPct val="100000"/>
              <a:buFont typeface="Arial" panose="020B0604020202020204" pitchFamily="34" charset="0"/>
              <a:buNone/>
              <a:defRPr sz="2000" b="0">
                <a:solidFill>
                  <a:srgbClr val="575757"/>
                </a:solidFill>
              </a:defRPr>
            </a:lvl1pPr>
            <a:lvl2pPr marL="0" indent="0" defTabSz="990587">
              <a:spcBef>
                <a:spcPts val="0"/>
              </a:spcBef>
              <a:spcAft>
                <a:spcPts val="1083"/>
              </a:spcAft>
              <a:buClrTx/>
              <a:buSzPct val="100000"/>
              <a:buFont typeface="Arial"/>
              <a:buNone/>
              <a:defRPr lang="en-US" sz="1000" b="1" dirty="0" smtClean="0"/>
            </a:lvl2pPr>
            <a:lvl3pPr marL="191097" indent="-191097" defTabSz="990587">
              <a:spcBef>
                <a:spcPts val="0"/>
              </a:spcBef>
              <a:spcAft>
                <a:spcPts val="1083"/>
              </a:spcAft>
              <a:buClrTx/>
              <a:buSzPct val="100000"/>
              <a:buFont typeface="Arial" panose="020B0604020202020204" pitchFamily="34" charset="0"/>
              <a:buChar char="•"/>
              <a:defRPr lang="en-US" sz="1000" dirty="0" smtClean="0"/>
            </a:lvl3pPr>
            <a:lvl4pPr marL="386095" indent="-191097" defTabSz="990587">
              <a:spcBef>
                <a:spcPts val="0"/>
              </a:spcBef>
              <a:spcAft>
                <a:spcPts val="1083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000" baseline="0" dirty="0" smtClean="0"/>
            </a:lvl4pPr>
            <a:lvl5pPr marL="577191" indent="-191097" defTabSz="865044">
              <a:spcBef>
                <a:spcPts val="0"/>
              </a:spcBef>
              <a:spcAft>
                <a:spcPts val="1083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000" baseline="0" dirty="0" smtClean="0"/>
            </a:lvl5pPr>
            <a:lvl6pPr marL="577191" indent="-191097" defTabSz="990587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1" baseline="0"/>
            </a:lvl6pPr>
            <a:lvl7pPr marL="577191" indent="-191097" defTabSz="990587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1"/>
            </a:lvl7pPr>
            <a:lvl8pPr marL="577191" indent="-191097" defTabSz="990587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1" baseline="0"/>
            </a:lvl8pPr>
            <a:lvl9pPr marL="577191" indent="-191097" defTabSz="990587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1" baseline="0"/>
            </a:lvl9pPr>
          </a:lstStyle>
          <a:p>
            <a:pPr>
              <a:spcAft>
                <a:spcPts val="0"/>
              </a:spcAft>
              <a:defRPr/>
            </a:pPr>
            <a:r>
              <a:rPr lang="en-US" sz="1800" b="1" i="1" dirty="0">
                <a:cs typeface="Arial"/>
              </a:rPr>
              <a:t>FirstName </a:t>
            </a:r>
            <a:r>
              <a:rPr lang="en-US" sz="1800" b="1" i="1" dirty="0" err="1">
                <a:cs typeface="Arial"/>
              </a:rPr>
              <a:t>SecondName</a:t>
            </a:r>
            <a:br>
              <a:rPr lang="en-US" sz="1800" b="1" dirty="0">
                <a:solidFill>
                  <a:srgbClr val="0076A8"/>
                </a:solidFill>
                <a:cs typeface="Arial"/>
              </a:rPr>
            </a:br>
            <a:r>
              <a:rPr lang="en-US" sz="1800" b="1" i="1" dirty="0">
                <a:solidFill>
                  <a:srgbClr val="0076A8"/>
                </a:solidFill>
                <a:cs typeface="Arial"/>
              </a:rPr>
              <a:t>Location</a:t>
            </a:r>
            <a:endParaRPr lang="en-US" sz="1800" i="1" dirty="0">
              <a:latin typeface="Calibri"/>
            </a:endParaRPr>
          </a:p>
          <a:p>
            <a:pPr lvl="0">
              <a:spcAft>
                <a:spcPts val="0"/>
              </a:spcAft>
              <a:defRPr/>
            </a:pPr>
            <a:endParaRPr lang="en-US" sz="1800" i="1" dirty="0">
              <a:latin typeface="Calibri"/>
            </a:endParaRPr>
          </a:p>
        </p:txBody>
      </p:sp>
      <p:sp>
        <p:nvSpPr>
          <p:cNvPr id="113" name="Rectangle 3"/>
          <p:cNvSpPr>
            <a:spLocks noChangeArrowheads="1"/>
          </p:cNvSpPr>
          <p:nvPr/>
        </p:nvSpPr>
        <p:spPr bwMode="auto">
          <a:xfrm>
            <a:off x="5349025" y="780382"/>
            <a:ext cx="6408000" cy="2520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lIns="87086" tIns="0" rIns="0" bIns="0" anchor="ctr"/>
          <a:lstStyle/>
          <a:p>
            <a:pPr marL="125026" marR="0" lvl="0" indent="-125026" algn="l" defTabSz="837959" rtl="0" eaLnBrk="1" fontAlgn="auto" latinLnBrk="0" hangingPunct="1">
              <a:lnSpc>
                <a:spcPct val="100000"/>
              </a:lnSpc>
              <a:spcBef>
                <a:spcPts val="571"/>
              </a:spcBef>
              <a:spcAft>
                <a:spcPts val="571"/>
              </a:spcAft>
              <a:buClr>
                <a:srgbClr val="000066"/>
              </a:buClr>
              <a:buSzPct val="75000"/>
              <a:buFontTx/>
              <a:buNone/>
              <a:tabLst>
                <a:tab pos="1027487" algn="l"/>
              </a:tabLst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RELEVANT EXPERIENCE</a:t>
            </a:r>
          </a:p>
        </p:txBody>
      </p:sp>
      <p:sp>
        <p:nvSpPr>
          <p:cNvPr id="117" name="Rectangle 3"/>
          <p:cNvSpPr>
            <a:spLocks noChangeArrowheads="1"/>
          </p:cNvSpPr>
          <p:nvPr/>
        </p:nvSpPr>
        <p:spPr bwMode="auto">
          <a:xfrm>
            <a:off x="5349025" y="1057355"/>
            <a:ext cx="6408000" cy="3381129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square" lIns="72000" tIns="87086" rIns="72000" bIns="0" numCol="1" spcCol="182880" anchor="t">
            <a:noAutofit/>
          </a:bodyPr>
          <a:lstStyle/>
          <a:p>
            <a:pPr marL="0" marR="0" fontAlgn="base">
              <a:spcBef>
                <a:spcPts val="40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Client 1 : For 3 Years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GB" sz="9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Responsible for managing end to end Operations, Processes and Testing activity for HCM / HR module of SAP Business Design and SAP Business one application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GB" sz="9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Worked as Bridge between Central Test Team, Development Team and Solution Management Group and responsible for co-coordinating with teams in different locations and time zone. 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GB" sz="9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Prepare Test Plan and Schedule Reviews of the Test cases &amp; Test Scripts for Unit Testing, Functional testing, Mini Scenarios, patch/ upgrades and Accessibility testing in System, Integration and Regression Testing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GB" sz="9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Supported Hybris / Ariba testing for various releases 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fontAlgn="base">
              <a:spcBef>
                <a:spcPts val="40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Client Transformation (Bangalore):  For 2 Years 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GB" sz="9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Served as SAP Technical consultant for managing/supporting and enhancing existing implementation. 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GB" sz="9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Provided the overall Integration and Transformation services across various SAP Modules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GB" sz="9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Implemented Tosca as one tool reducing various tool chain used for test automation </a:t>
            </a:r>
          </a:p>
          <a:p>
            <a:pPr marL="742950" marR="0" lvl="1" indent="-28575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GB" sz="9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Migrated all the Test scripts from Certify to Tosca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fontAlgn="base">
              <a:spcBef>
                <a:spcPts val="40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Retail Client  – Sweden: for 3 Years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GB" sz="9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Served as SAP Technical Lead for green-field implementation of SAP ECC 6.0 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GB" sz="9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Apart from implementation deliveries served as a cutover lead for various country roll outs 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GB" sz="9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Managed key stakeholders at C-level and third-party vendors to deliver a successful go-live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fontAlgn="base">
              <a:spcBef>
                <a:spcPts val="40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Client Name – Fashion Retail. (London) for 1 Year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GB" sz="9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Served as a technical team member for Fiori application development in SAP Monogram project – was able to manage omni channel and multivendor implementations 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GB" sz="9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Did end to end planning, implementation and test for the program and created go live for the same</a:t>
            </a:r>
          </a:p>
          <a:p>
            <a:pPr marL="742950" marR="0" lvl="1" indent="-28575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GB" sz="900" dirty="0">
                <a:solidFill>
                  <a:srgbClr val="000000"/>
                </a:solidFill>
                <a:latin typeface="Calibri" panose="020F0502020204030204" pitchFamily="34" charset="0"/>
              </a:rPr>
              <a:t>Supported Business acceptance tests an got an appreciation from end clients 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Rectangle 3"/>
          <p:cNvSpPr>
            <a:spLocks noChangeArrowheads="1"/>
          </p:cNvSpPr>
          <p:nvPr/>
        </p:nvSpPr>
        <p:spPr bwMode="auto">
          <a:xfrm>
            <a:off x="5349025" y="4827136"/>
            <a:ext cx="6408000" cy="1573663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73152" tIns="73152" rIns="73152" bIns="73152" numCol="3" spcCol="182880" anchor="t">
            <a:noAutofit/>
          </a:bodyPr>
          <a:lstStyle/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dk1"/>
                </a:solidFill>
              </a:rPr>
              <a:t>Functional exposure :  FI/CO, MM , ISU, SF, HCM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</a:rPr>
              <a:t>Data Migration S4 HANA / Data extraction.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dk1"/>
                </a:solidFill>
              </a:rPr>
              <a:t>Performance Testing 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dk1"/>
                </a:solidFill>
              </a:rPr>
              <a:t>System Upgrade Testing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dk1"/>
                </a:solidFill>
              </a:rPr>
              <a:t>Custom code migration ECC to S/4.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dk1"/>
                </a:solidFill>
              </a:rPr>
              <a:t>Familiar with SAP Solution Manager / CBTA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chemeClr val="dk1"/>
                </a:solidFill>
              </a:rPr>
              <a:t>SAFe</a:t>
            </a:r>
            <a:r>
              <a:rPr lang="en-US" sz="1000" dirty="0">
                <a:solidFill>
                  <a:schemeClr val="dk1"/>
                </a:solidFill>
              </a:rPr>
              <a:t> 5.1 Agile practitioner. 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dk1"/>
                </a:solidFill>
              </a:rPr>
              <a:t>ISTQB Foundation Tester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dk1"/>
                </a:solidFill>
              </a:rPr>
              <a:t>ISTQB Advanced Functional Tester 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dk1"/>
                </a:solidFill>
              </a:rPr>
              <a:t>Certified Test Manager - STQC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dk1"/>
                </a:solidFill>
              </a:rPr>
              <a:t>Certified Software Quality Analyst – CSQA by QAI 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dk1"/>
                </a:solidFill>
              </a:rPr>
              <a:t>Completed Training in IISc on Advanced Software Project Management 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dk1"/>
                </a:solidFill>
              </a:rPr>
              <a:t>ISTQB Advanced Technical certification 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dk1"/>
                </a:solidFill>
              </a:rPr>
              <a:t>The Best of IBM – Bravo Award for Organization drive and </a:t>
            </a:r>
            <a:r>
              <a:rPr lang="en-CA" sz="1000" dirty="0">
                <a:solidFill>
                  <a:schemeClr val="dk1"/>
                </a:solidFill>
              </a:rPr>
              <a:t>mentoring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n-CA" sz="1000" dirty="0">
                <a:solidFill>
                  <a:schemeClr val="dk1"/>
                </a:solidFill>
              </a:rPr>
              <a:t>Capgemini – L1 Architect Certification </a:t>
            </a:r>
            <a:endParaRPr lang="en-GB" sz="1000" dirty="0">
              <a:solidFill>
                <a:schemeClr val="dk1"/>
              </a:solidFill>
            </a:endParaRPr>
          </a:p>
          <a:p>
            <a:pPr lvl="0" defTabSz="1219170"/>
            <a:endParaRPr lang="en-US" sz="900" dirty="0">
              <a:solidFill>
                <a:schemeClr val="dk1"/>
              </a:solidFill>
            </a:endParaRPr>
          </a:p>
        </p:txBody>
      </p:sp>
      <p:sp>
        <p:nvSpPr>
          <p:cNvPr id="119" name="Rectangle 3"/>
          <p:cNvSpPr>
            <a:spLocks noChangeArrowheads="1"/>
          </p:cNvSpPr>
          <p:nvPr/>
        </p:nvSpPr>
        <p:spPr bwMode="auto">
          <a:xfrm>
            <a:off x="5349025" y="4538735"/>
            <a:ext cx="6408000" cy="2520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lIns="87086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FUNCTIONAL &amp; TECHNICAL EXPERIENCE</a:t>
            </a:r>
          </a:p>
        </p:txBody>
      </p:sp>
      <p:sp>
        <p:nvSpPr>
          <p:cNvPr id="120" name="Rectangle 3"/>
          <p:cNvSpPr>
            <a:spLocks noChangeArrowheads="1"/>
          </p:cNvSpPr>
          <p:nvPr/>
        </p:nvSpPr>
        <p:spPr bwMode="auto">
          <a:xfrm>
            <a:off x="566538" y="2513532"/>
            <a:ext cx="4680000" cy="2520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lIns="87086" tIns="0" rIns="0" bIns="0" anchor="ctr"/>
          <a:lstStyle/>
          <a:p>
            <a:pPr marL="125026" marR="0" lvl="0" indent="-125026" algn="l" defTabSz="837959" rtl="0" eaLnBrk="1" fontAlgn="auto" latinLnBrk="0" hangingPunct="1">
              <a:lnSpc>
                <a:spcPct val="100000"/>
              </a:lnSpc>
              <a:spcBef>
                <a:spcPts val="571"/>
              </a:spcBef>
              <a:spcAft>
                <a:spcPts val="571"/>
              </a:spcAft>
              <a:buClr>
                <a:srgbClr val="000066"/>
              </a:buClr>
              <a:buSzPct val="75000"/>
              <a:buFontTx/>
              <a:buNone/>
              <a:tabLst>
                <a:tab pos="1027487" algn="l"/>
              </a:tabLst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PROFILE</a:t>
            </a:r>
          </a:p>
        </p:txBody>
      </p:sp>
      <p:sp>
        <p:nvSpPr>
          <p:cNvPr id="121" name="Rectangle 3"/>
          <p:cNvSpPr>
            <a:spLocks noChangeArrowheads="1"/>
          </p:cNvSpPr>
          <p:nvPr/>
        </p:nvSpPr>
        <p:spPr bwMode="auto">
          <a:xfrm>
            <a:off x="551575" y="2806194"/>
            <a:ext cx="4680000" cy="3594606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72000" tIns="87086" rIns="72000" bIns="0" anchor="t"/>
          <a:lstStyle/>
          <a:p>
            <a:pPr marL="171450" lvl="1" indent="-171450">
              <a:spcAft>
                <a:spcPts val="500"/>
              </a:spcAft>
              <a:buClr>
                <a:srgbClr val="787878"/>
              </a:buClr>
              <a:buFont typeface="Arial" panose="020B0604020202020204" pitchFamily="34" charset="0"/>
              <a:buChar char="•"/>
              <a:defRPr/>
            </a:pPr>
            <a:r>
              <a:rPr lang="en-US" sz="900" kern="0" dirty="0">
                <a:solidFill>
                  <a:prstClr val="black"/>
                </a:solidFill>
              </a:rPr>
              <a:t>A diligent IT consultant having </a:t>
            </a:r>
            <a:r>
              <a:rPr lang="en-US" sz="1000" b="1" kern="0" dirty="0">
                <a:solidFill>
                  <a:prstClr val="black"/>
                </a:solidFill>
              </a:rPr>
              <a:t>around 3 years </a:t>
            </a:r>
            <a:r>
              <a:rPr lang="en-US" sz="900" kern="0" dirty="0">
                <a:solidFill>
                  <a:prstClr val="black"/>
                </a:solidFill>
              </a:rPr>
              <a:t>of professional experience  in functional testing and TOSCA.</a:t>
            </a:r>
            <a:endParaRPr lang="en-US" sz="900" kern="0" dirty="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1" indent="-171450">
              <a:spcBef>
                <a:spcPct val="20000"/>
              </a:spcBef>
              <a:spcAft>
                <a:spcPts val="500"/>
              </a:spcAft>
              <a:buClr>
                <a:srgbClr val="787878"/>
              </a:buClr>
              <a:buFont typeface="Arial" panose="020B0604020202020204" pitchFamily="34" charset="0"/>
              <a:buChar char="•"/>
              <a:defRPr/>
            </a:pPr>
            <a:r>
              <a:rPr lang="en-US" sz="900" kern="0" dirty="0">
                <a:solidFill>
                  <a:prstClr val="black"/>
                </a:solidFill>
              </a:rPr>
              <a:t>Skilled in designing, developing and executing automated testcases .</a:t>
            </a:r>
            <a:endParaRPr lang="en-US" sz="900" kern="0" dirty="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1" indent="-171450">
              <a:spcAft>
                <a:spcPts val="500"/>
              </a:spcAft>
              <a:buClr>
                <a:srgbClr val="787878"/>
              </a:buClr>
              <a:buFont typeface="Arial" panose="020B0604020202020204" pitchFamily="34" charset="0"/>
              <a:buChar char="•"/>
              <a:defRPr/>
            </a:pPr>
            <a:r>
              <a:rPr lang="en-US" sz="900" kern="0" dirty="0">
                <a:solidFill>
                  <a:prstClr val="black"/>
                </a:solidFill>
              </a:rPr>
              <a:t>Seasoned in handling entire project lifecycle from inception to delivery viz. project management, on-site-off-shore coordination, quality assurance, good team player with effective leadership, decision making, problem-solving, excellent communication and interpersonal skills.</a:t>
            </a:r>
            <a:endParaRPr lang="en-US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Calibri"/>
              <a:cs typeface="Calibri"/>
            </a:endParaRPr>
          </a:p>
          <a:p>
            <a:pPr marL="0" marR="0" lvl="1" indent="0" algn="l" defTabSz="914400" rtl="0" eaLnBrk="1" fontAlgn="auto" latinLnBrk="0" hangingPunct="1">
              <a:spcAft>
                <a:spcPts val="500"/>
              </a:spcAft>
              <a:buClr>
                <a:srgbClr val="787878"/>
              </a:buClr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RELEVANT SKILLS &amp; Tool knowledge :</a:t>
            </a:r>
          </a:p>
          <a:p>
            <a:r>
              <a:rPr lang="en-US" sz="900" kern="0" dirty="0">
                <a:solidFill>
                  <a:prstClr val="black"/>
                </a:solidFill>
              </a:rPr>
              <a:t> </a:t>
            </a:r>
            <a:r>
              <a:rPr lang="en-US" sz="900" dirty="0">
                <a:solidFill>
                  <a:schemeClr val="dk1"/>
                </a:solidFill>
              </a:rPr>
              <a:t>Functional exposure : E-Commerce- </a:t>
            </a:r>
            <a:r>
              <a:rPr lang="en-US" sz="900" dirty="0" err="1">
                <a:solidFill>
                  <a:schemeClr val="dk1"/>
                </a:solidFill>
              </a:rPr>
              <a:t>cart,checkout,paymentand</a:t>
            </a:r>
            <a:r>
              <a:rPr lang="en-US" sz="900" dirty="0">
                <a:solidFill>
                  <a:schemeClr val="dk1"/>
                </a:solidFill>
              </a:rPr>
              <a:t> order </a:t>
            </a:r>
            <a:r>
              <a:rPr lang="en-US" sz="900" dirty="0" err="1">
                <a:solidFill>
                  <a:schemeClr val="dk1"/>
                </a:solidFill>
              </a:rPr>
              <a:t>managemrnt</a:t>
            </a:r>
            <a:endParaRPr lang="en-US" sz="900" dirty="0">
              <a:solidFill>
                <a:schemeClr val="dk1"/>
              </a:solidFill>
              <a:ea typeface="Calibri"/>
              <a:cs typeface="Calibri"/>
            </a:endParaRPr>
          </a:p>
          <a:p>
            <a:r>
              <a:rPr lang="en-US" sz="900" dirty="0">
                <a:solidFill>
                  <a:schemeClr val="dk1"/>
                </a:solidFill>
              </a:rPr>
              <a:t>Tools and Technologies – Tricentis Tosca </a:t>
            </a:r>
            <a:endParaRPr lang="en-US" sz="900" dirty="0">
              <a:solidFill>
                <a:schemeClr val="dk1"/>
              </a:solidFill>
              <a:ea typeface="Calibri"/>
              <a:cs typeface="Calibri"/>
            </a:endParaRPr>
          </a:p>
          <a:p>
            <a:pPr marL="0" lvl="1">
              <a:spcAft>
                <a:spcPts val="500"/>
              </a:spcAft>
              <a:buClr>
                <a:srgbClr val="787878"/>
              </a:buClr>
              <a:defRPr/>
            </a:pPr>
            <a:endParaRPr lang="en-US" sz="900" kern="0" dirty="0">
              <a:solidFill>
                <a:prstClr val="black"/>
              </a:solidFill>
            </a:endParaRPr>
          </a:p>
          <a:p>
            <a:pPr marL="0" marR="0" lvl="1" indent="0" algn="l" defTabSz="914400" rtl="0" eaLnBrk="1" fontAlgn="auto" latinLnBrk="0" hangingPunct="1">
              <a:spcAft>
                <a:spcPts val="500"/>
              </a:spcAft>
              <a:buClr>
                <a:srgbClr val="787878"/>
              </a:buClr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INDUSTRY EXPERIENCE:</a:t>
            </a:r>
            <a:endParaRPr lang="en-US" sz="9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Calibri"/>
              <a:cs typeface="Calibri"/>
            </a:endParaRPr>
          </a:p>
          <a:p>
            <a:pPr marL="0" lvl="1">
              <a:spcAft>
                <a:spcPts val="500"/>
              </a:spcAft>
            </a:pPr>
            <a:r>
              <a:rPr lang="en-US" sz="900" kern="0" dirty="0">
                <a:solidFill>
                  <a:schemeClr val="dk1"/>
                </a:solidFill>
                <a:ea typeface="Calibri"/>
                <a:cs typeface="Calibri"/>
              </a:rPr>
              <a:t>Worked on Ecommerce domain automating end to end workflows like product search , cart, checkout, registration and payment processing</a:t>
            </a:r>
          </a:p>
          <a:p>
            <a:pPr marL="0">
              <a:defRPr/>
            </a:pPr>
            <a:endParaRPr lang="en-US" sz="900" dirty="0">
              <a:latin typeface="+mj-lt"/>
            </a:endParaRPr>
          </a:p>
          <a:p>
            <a:pPr marL="0" marR="0" lvl="1" indent="0" algn="l" defTabSz="914400" rtl="0" eaLnBrk="1" fontAlgn="auto" latinLnBrk="0" hangingPunct="1">
              <a:spcAft>
                <a:spcPts val="500"/>
              </a:spcAft>
              <a:buClr>
                <a:srgbClr val="787878"/>
              </a:buClr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TRAINING &amp; CERTIFICATIONS :</a:t>
            </a:r>
          </a:p>
          <a:p>
            <a:r>
              <a:rPr lang="en-US" sz="900" kern="0" dirty="0">
                <a:solidFill>
                  <a:prstClr val="black"/>
                </a:solidFill>
              </a:rPr>
              <a:t>Tosca AS1</a:t>
            </a:r>
          </a:p>
          <a:p>
            <a:r>
              <a:rPr lang="en-US" sz="900" kern="0" dirty="0">
                <a:solidFill>
                  <a:prstClr val="black"/>
                </a:solidFill>
                <a:ea typeface="Calibri"/>
                <a:cs typeface="Calibri"/>
              </a:rPr>
              <a:t>Tosca AS2.</a:t>
            </a:r>
          </a:p>
          <a:p>
            <a:endParaRPr lang="en-US" sz="900" kern="0" dirty="0">
              <a:solidFill>
                <a:prstClr val="black"/>
              </a:solidFill>
            </a:endParaRPr>
          </a:p>
          <a:p>
            <a:pPr lvl="1">
              <a:spcAft>
                <a:spcPts val="500"/>
              </a:spcAft>
              <a:buClr>
                <a:srgbClr val="787878"/>
              </a:buClr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EDUCATION:</a:t>
            </a:r>
            <a:endParaRPr lang="en-US" sz="900" b="1" kern="0" dirty="0">
              <a:latin typeface="+mj-lt"/>
            </a:endParaRPr>
          </a:p>
          <a:p>
            <a:pPr marL="0">
              <a:defRPr/>
            </a:pPr>
            <a:r>
              <a:rPr lang="en-US" sz="900" kern="0" dirty="0">
                <a:solidFill>
                  <a:prstClr val="black"/>
                </a:solidFill>
                <a:latin typeface="+mj-lt"/>
              </a:rPr>
              <a:t> </a:t>
            </a:r>
            <a:r>
              <a:rPr lang="en-US" sz="900" kern="0" dirty="0">
                <a:solidFill>
                  <a:prstClr val="black"/>
                </a:solidFill>
              </a:rPr>
              <a:t>B.E (Information Science) from GM Institute of technology ,  </a:t>
            </a:r>
            <a:r>
              <a:rPr lang="en-US" sz="900" kern="0" dirty="0" err="1">
                <a:solidFill>
                  <a:prstClr val="black"/>
                </a:solidFill>
              </a:rPr>
              <a:t>Davangere,Karnataka</a:t>
            </a:r>
            <a:endParaRPr lang="en-US" sz="900" kern="0" dirty="0">
              <a:solidFill>
                <a:prstClr val="black"/>
              </a:solidFill>
              <a:ea typeface="Calibri"/>
              <a:cs typeface="Calibri"/>
            </a:endParaRPr>
          </a:p>
          <a:p>
            <a:endParaRPr lang="en-US" sz="900" kern="0" dirty="0">
              <a:solidFill>
                <a:prstClr val="black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6B625F0-BEFA-4341-BE65-5280A22CB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20" y="824662"/>
            <a:ext cx="1491583" cy="14915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77E15E-4F8F-43D0-8EB8-636573386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8804" y="28926"/>
            <a:ext cx="2493195" cy="71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83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89256c7-9946-44df-b379-51beb93fd2d9}" enabled="1" method="Privilege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528</Words>
  <Application>Microsoft Office PowerPoint</Application>
  <PresentationFormat>Widescreen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Iyer, Rahul</dc:creator>
  <cp:lastModifiedBy>Iyer, Rahul</cp:lastModifiedBy>
  <cp:revision>1</cp:revision>
  <dcterms:created xsi:type="dcterms:W3CDTF">2026-04-21T09:26:23Z</dcterms:created>
  <dcterms:modified xsi:type="dcterms:W3CDTF">2026-04-21T09:27:43Z</dcterms:modified>
</cp:coreProperties>
</file>